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011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7A7A7A"/>
                </a:solidFill>
                <a:latin typeface="Consolas"/>
              </a:rPr>
              <a:t>U T A K A T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6517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 i="0">
                <a:solidFill>
                  <a:srgbClr val="45615F"/>
                </a:solidFill>
                <a:latin typeface="Yu Mincho"/>
              </a:rPr>
              <a:t>SNS運用ご提案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0" i="0">
                <a:solidFill>
                  <a:srgbClr val="45615F"/>
                </a:solidFill>
                <a:latin typeface="Yu Mincho"/>
              </a:rPr>
              <a:t>第2回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7680" y="4572000"/>
            <a:ext cx="548640" cy="9525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0" y="475488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前回ヒアリングの振り返りと提案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59436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山田     / 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02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アジェンダ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前回ヒアリングの振り返りと、今回の提案2点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22494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前回ヒアリングの振り返り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前回出た課題の整理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3063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2004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1638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提案① プロンプト一覧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20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投稿の言葉づくり用ツール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0080" y="3977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22960" y="41148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40782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提案② 動画エディタ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4348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テロップ位置調整不要の編集ツール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0080" y="48920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22960" y="5029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 i="0">
                <a:solidFill>
                  <a:srgbClr val="B89178"/>
                </a:solidFill>
                <a:latin typeface="Consolas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92624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2C2C2C"/>
                </a:solidFill>
                <a:latin typeface="Yu Mincho"/>
              </a:rPr>
              <a:t>次回までのアクション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492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Yu Gothic"/>
              </a:rPr>
              <a:t>3週間の導入計画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0080" y="58064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所要 約30分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03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前回ヒアリングで出た課題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ヒアリング内容を4点に整理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860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22860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8346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リール投稿の続け方が分からない。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月1本がやっと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0" y="22860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0" y="22860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24688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8346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編集に時間がかかりすぎる。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テロップ位置に悩む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1148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1148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6634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「うたかたらしさ」を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ブレずに保ちたい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880" y="4114800"/>
            <a:ext cx="3749039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54880" y="4114800"/>
            <a:ext cx="54864" cy="1645920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3480" y="429768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PAIN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80" y="4663440"/>
            <a:ext cx="33832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「劇的変化」を煽る発信に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違和感がある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※ ヒアリングメモから抜粋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振り返り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04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ブランドの軸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提案の判断基準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2468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0" i="0">
                <a:solidFill>
                  <a:srgbClr val="B89178"/>
                </a:solidFill>
                <a:latin typeface="Yu Mincho"/>
              </a:rPr>
              <a:t>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49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45615F"/>
                </a:solidFill>
                <a:latin typeface="Yu Mincho"/>
              </a:rPr>
              <a:t>静かに整える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434340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派手な表現ではなく、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呼吸が落ち着くような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言葉と画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0712" y="2286000"/>
            <a:ext cx="2468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26974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0" i="0">
                <a:solidFill>
                  <a:srgbClr val="B89178"/>
                </a:solidFill>
                <a:latin typeface="Yu Mincho"/>
              </a:rPr>
              <a:t>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3749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45615F"/>
                </a:solidFill>
                <a:latin typeface="Yu Mincho"/>
              </a:rPr>
              <a:t>押し売りしない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34340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来てください、より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「そういう時間がある」と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そっと置いておく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44184" y="2286000"/>
            <a:ext cx="24688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44184" y="269748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4400" b="0" i="0">
                <a:solidFill>
                  <a:srgbClr val="B89178"/>
                </a:solidFill>
                <a:latin typeface="Yu Mincho"/>
              </a:rPr>
              <a:t>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44184" y="3749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1" i="0">
                <a:solidFill>
                  <a:srgbClr val="45615F"/>
                </a:solidFill>
                <a:latin typeface="Yu Mincho"/>
              </a:rPr>
              <a:t>無理なく続ける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7064" y="4343400"/>
            <a:ext cx="2103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毎日張り切る必要はない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月3〜4本のリズムで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長く続ける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提案はこの軸に沿って組み立て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解決の方向性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05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3つのアプローチ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AI任せにせず、人の判断を残す設計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① 言葉づくり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290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ChatGPTを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道具として使う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うたかた専用プロンプト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3375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46888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2834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② 動画編集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4290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テロップ位置を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悩まないツール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ブラウザで完結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33375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0" y="2468880"/>
            <a:ext cx="228600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283464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③ 撮影設計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3429000"/>
            <a:ext cx="20116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1シーン1動画で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短く分けて撮影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編集が10分に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2C2C2C"/>
                </a:solidFill>
                <a:latin typeface="Yu Mincho"/>
              </a:rPr>
              <a:t>本日は ① と ② を扱う。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2C2C2C"/>
                </a:solidFill>
                <a:latin typeface="Yu Mincho"/>
              </a:rPr>
              <a:t>③（撮影設計）は別資料を参照。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参考資料:  salon-highlight-guide.html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06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solidFill>
            <a:srgbClr val="2D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PROPOSAL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FFFFFF"/>
                </a:solidFill>
                <a:latin typeface="Yu Mincho"/>
              </a:rPr>
              <a:t>プロンプト一覧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231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CFCBC0"/>
                </a:solidFill>
                <a:latin typeface="Yu Gothic"/>
              </a:rPr>
              <a:t>ChatGPTで投稿の言葉づくりを高速化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786384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>ChatGPTに「リール5本」のような短いトリガー語を打つと、</a:t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>ブランドに沿った投稿案がまとめて出力される仕組み。</a:t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/>
            </a:r>
          </a:p>
          <a:p>
            <a:pPr algn="l">
              <a:lnSpc>
                <a:spcPct val="190000"/>
              </a:lnSpc>
            </a:pPr>
            <a:r>
              <a:rPr sz="1400" b="0" i="0">
                <a:solidFill>
                  <a:srgbClr val="2C2C2C"/>
                </a:solidFill>
                <a:latin typeface="Yu Mincho"/>
              </a:rPr>
              <a:t>投稿のたびにゼロから考える時間を削減。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実物: salon-prompts.html  /  15種類のトリガー（次ページ）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07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15種類のトリガー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用途別のトリガー語を15種類用意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リール5本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REEL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4028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フィード3本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FEED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ストーリーズ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STORY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4924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924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キャプション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CAPTION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03720" y="228600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03720" y="245059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ハッシュタグ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76148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HASH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月次テーマ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MONTH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4028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4028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週次テーマ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4028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WEEK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79476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79476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部位別投稿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9476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PART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924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924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悩み言語化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924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PAIN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03720" y="324612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341071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考え方を伝える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372160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VOICE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予約導線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CTA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4028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LINE配信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LINE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9476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79476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お客様の声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9476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VOC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4924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4924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季節投稿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924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SEASON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03720" y="4206240"/>
            <a:ext cx="1508760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03720" y="4370832"/>
            <a:ext cx="1508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45615F"/>
                </a:solidFill>
                <a:latin typeface="Yu Mincho"/>
              </a:rPr>
              <a:t>NGチェック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03720" y="4681728"/>
            <a:ext cx="1508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800" b="1" i="0">
                <a:solidFill>
                  <a:srgbClr val="B89178"/>
                </a:solidFill>
                <a:latin typeface="Consolas"/>
              </a:rPr>
              <a:t>NG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例: 月の方針が定まらない時は「月次テーマ」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08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使い方は3ステップ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事前準備は1回のみ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2286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63040" y="2788920"/>
            <a:ext cx="457200" cy="457200"/>
          </a:xfrm>
          <a:prstGeom prst="ellipse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429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事前準備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31920"/>
            <a:ext cx="2011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ChatGPTに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プロジェクト用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プロンプトを貼る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（最初の1回だけ）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6118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2468880"/>
            <a:ext cx="2286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14800" y="2788920"/>
            <a:ext cx="457200" cy="457200"/>
          </a:xfrm>
          <a:prstGeom prst="ellipse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429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毎日の使用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31920"/>
            <a:ext cx="2011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トリガー語を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1〜2語打つ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例:「リール5本」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6118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 i="0">
                <a:solidFill>
                  <a:srgbClr val="B89178"/>
                </a:solidFill>
                <a:latin typeface="Yu Gothic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0" y="2468880"/>
            <a:ext cx="2286000" cy="2743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766560" y="2788920"/>
            <a:ext cx="457200" cy="457200"/>
          </a:xfrm>
          <a:prstGeom prst="ellipse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34290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微調整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9320" y="3931920"/>
            <a:ext cx="20116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出てきた案から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使える1つを選んで</a:t>
            </a:r>
          </a:p>
          <a:p>
            <a:pPr algn="ctr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言葉を少し直す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5623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7A7A7A"/>
                </a:solidFill>
                <a:latin typeface="Yu Gothic"/>
              </a:rPr>
              <a:t>1投稿あたり 3〜5分 で完成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本日デモを実施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09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0080" y="1097280"/>
            <a:ext cx="7863840" cy="1828800"/>
          </a:xfrm>
          <a:prstGeom prst="rect">
            <a:avLst/>
          </a:prstGeom>
          <a:solidFill>
            <a:srgbClr val="2D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17320"/>
            <a:ext cx="7863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PROPOSAL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i="0">
                <a:solidFill>
                  <a:srgbClr val="FFFFFF"/>
                </a:solidFill>
                <a:latin typeface="Yu Mincho"/>
              </a:rPr>
              <a:t>動画エディタ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2316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CFCBC0"/>
                </a:solidFill>
                <a:latin typeface="Yu Gothic"/>
              </a:rPr>
              <a:t>テロップ位置を悩まないブラウザ完結ツール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786384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動画にテロップを重ねるのではなく、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動画の上下に固定の枠を設けて文字を入れる仕組み。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/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・テロップが顔に被らない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・位置調整が不要</a:t>
            </a:r>
          </a:p>
          <a:p>
            <a:pPr algn="l">
              <a:lnSpc>
                <a:spcPct val="180000"/>
              </a:lnSpc>
            </a:pPr>
            <a:r>
              <a:rPr sz="1300" b="0" i="0">
                <a:solidFill>
                  <a:srgbClr val="2C2C2C"/>
                </a:solidFill>
                <a:latin typeface="Yu Mincho"/>
              </a:rPr>
              <a:t>・ブランドの統一感を保ったまま量産可能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アクセス: utakata-subtitle.vercel.app/salon-editor.html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10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エディタの仕組み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上下の固定枠と中央の動画エリアの3層構造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86000"/>
            <a:ext cx="192024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86000"/>
            <a:ext cx="1920240" cy="507309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3957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1" i="0">
                <a:solidFill>
                  <a:srgbClr val="2C2C2C"/>
                </a:solidFill>
                <a:latin typeface="Yu Mincho"/>
              </a:rPr>
              <a:t>呼吸が浅い日に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793309"/>
            <a:ext cx="1920240" cy="2460101"/>
          </a:xfrm>
          <a:prstGeom prst="rect">
            <a:avLst/>
          </a:prstGeom>
          <a:solidFill>
            <a:srgbClr val="2A2A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0" i="0">
                <a:solidFill>
                  <a:srgbClr val="CFCBC0"/>
                </a:solidFill>
                <a:latin typeface="Yu Gothic"/>
              </a:rPr>
              <a:t>▶ 動画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253410"/>
            <a:ext cx="1920240" cy="507309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36313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00" b="1" i="0">
                <a:solidFill>
                  <a:srgbClr val="FFFFFF"/>
                </a:solidFill>
                <a:latin typeface="Yu Gothic"/>
              </a:rPr>
              <a:t>UTAKATA / DM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86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上の枠（明朝）に主題テロップ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例:「呼吸が浅い日に」「自分に戻る時間」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3154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1546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真ん中に動画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5204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撮影素材をそのまま入力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0233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023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下の枠（ゴシック）にCTA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43891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例:「UTAKATA / ご予約はDMから」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8920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B89178"/>
                </a:solidFill>
                <a:latin typeface="Yu Mincho"/>
              </a:rPr>
              <a:t>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4892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45615F"/>
                </a:solidFill>
                <a:latin typeface="Yu Mincho"/>
              </a:rPr>
              <a:t>時間で切り替え可能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5257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0〜15秒は文言A、15〜30秒は文言B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テロップが動画に被らない構造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提案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11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使い方は4ステップ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本日デモで実演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動画を選ぶ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スマホで撮った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動画ファイルを1本選択。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30秒前後が目安。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6888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6888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枠を選ぶ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和紙風 / コントラスト /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クレイの3種から選択。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テロップを入れる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上枠・下枠それぞれ、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時間と文字を入力。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チップで定型文も。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286000"/>
            <a:ext cx="1828800" cy="246888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2286000"/>
            <a:ext cx="1828800" cy="45720"/>
          </a:xfrm>
          <a:prstGeom prst="rect">
            <a:avLst/>
          </a:prstGeom>
          <a:solidFill>
            <a:srgbClr val="5D7B7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25146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Consolas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288036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 i="0">
                <a:solidFill>
                  <a:srgbClr val="45615F"/>
                </a:solidFill>
                <a:latin typeface="Yu Mincho"/>
              </a:rPr>
              <a:t>書き出し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3474720"/>
            <a:ext cx="15544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ボタン1つでMP4が出力。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そのままインスタに</a:t>
            </a:r>
          </a:p>
          <a:p>
            <a:pPr algn="l">
              <a:lnSpc>
                <a:spcPct val="16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アップ可能。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7A7A7A"/>
                </a:solidFill>
                <a:latin typeface="Yu Gothic"/>
              </a:rPr>
              <a:t>1本あたり目安 10分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 i="1">
                <a:solidFill>
                  <a:srgbClr val="7A7A7A"/>
                </a:solidFill>
                <a:latin typeface="Yu Gothic"/>
              </a:rPr>
              <a:t>※ アプリのインストール不要。スマホのSafari/Chromeで使えます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A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7A7A7A"/>
                </a:solidFill>
                <a:latin typeface="Consolas"/>
              </a:rPr>
              <a:t>UTAKATA  —  次のアクション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0" y="36576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900" b="0" i="0">
                <a:solidFill>
                  <a:srgbClr val="7A7A7A"/>
                </a:solidFill>
                <a:latin typeface="Consolas"/>
              </a:rPr>
              <a:t>12 / 12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7772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960120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45615F"/>
                </a:solidFill>
                <a:latin typeface="Yu Mincho"/>
              </a:rPr>
              <a:t>次回までの3週間ロードマップ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7A7A7A"/>
                </a:solidFill>
                <a:latin typeface="Yu Gothic"/>
              </a:rPr>
              <a:t>段階的に導入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24688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WEEK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5615F"/>
                </a:solidFill>
                <a:latin typeface="Yu Mincho"/>
              </a:rPr>
              <a:t>プロンプトを試す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56616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・ChatGPTにプロジェクト用プロンプトを設定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・「リール5本」を1回実行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・出力から1案を選定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2286000"/>
            <a:ext cx="24688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WEEK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926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5615F"/>
                </a:solidFill>
                <a:latin typeface="Yu Mincho"/>
              </a:rPr>
              <a:t>エディタで1本作る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56616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・撮影素材を1本用意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・エディタで枠付き動画化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・書き出してインスタに投稿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286000"/>
            <a:ext cx="246888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2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5603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1" i="0">
                <a:solidFill>
                  <a:srgbClr val="B89178"/>
                </a:solidFill>
                <a:latin typeface="Consolas"/>
              </a:rPr>
              <a:t>WEEK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926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 i="0">
                <a:solidFill>
                  <a:srgbClr val="45615F"/>
                </a:solidFill>
                <a:latin typeface="Yu Mincho"/>
              </a:rPr>
              <a:t>運用に乗せる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0116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・もう1〜2本作成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・使いにくい部分をメモ</a:t>
            </a:r>
          </a:p>
          <a:p>
            <a:pPr algn="l">
              <a:lnSpc>
                <a:spcPct val="170000"/>
              </a:lnSpc>
            </a:pPr>
            <a:r>
              <a:rPr sz="1000" b="0" i="0">
                <a:solidFill>
                  <a:srgbClr val="2C2C2C"/>
                </a:solidFill>
                <a:latin typeface="Yu Gothic"/>
              </a:rPr>
              <a:t>・次回ヒアリングで共有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0080" y="6263640"/>
            <a:ext cx="7863840" cy="0"/>
          </a:xfrm>
          <a:prstGeom prst="line">
            <a:avLst/>
          </a:prstGeom>
          <a:ln w="6350">
            <a:solidFill>
              <a:srgbClr val="E8E2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63550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1" i="0">
                <a:solidFill>
                  <a:srgbClr val="B89178"/>
                </a:solidFill>
                <a:latin typeface="Yu Gothic"/>
              </a:rPr>
              <a:t>次回ヒアリングで運用状況を確認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2D3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74320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3600" b="0" i="0">
                <a:solidFill>
                  <a:srgbClr val="FFFFFF"/>
                </a:solidFill>
                <a:latin typeface="Yu Mincho"/>
              </a:rPr>
              <a:t>以上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7680" y="3840480"/>
            <a:ext cx="548640" cy="9525"/>
          </a:xfrm>
          <a:prstGeom prst="rect">
            <a:avLst/>
          </a:prstGeom>
          <a:solidFill>
            <a:srgbClr val="B891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CFCBC0"/>
                </a:solidFill>
                <a:latin typeface="Yu Gothic"/>
              </a:rPr>
              <a:t>ご質問・ご意見をお願いします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