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0">
                <a:solidFill>
                  <a:srgbClr val="7A7A7A"/>
                </a:solidFill>
                <a:latin typeface="Consolas"/>
              </a:rPr>
              <a:t>U T A K A T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65176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0" i="0">
                <a:solidFill>
                  <a:srgbClr val="45615F"/>
                </a:solidFill>
                <a:latin typeface="Yu Mincho"/>
              </a:rPr>
              <a:t>SNS運用ご提案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0" i="0">
                <a:solidFill>
                  <a:srgbClr val="45615F"/>
                </a:solidFill>
                <a:latin typeface="Yu Mincho"/>
              </a:rPr>
              <a:t>第2回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4572000"/>
            <a:ext cx="548640" cy="9525"/>
          </a:xfrm>
          <a:prstGeom prst="rect">
            <a:avLst/>
          </a:prstGeom>
          <a:solidFill>
            <a:srgbClr val="B89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47548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0" i="0">
                <a:solidFill>
                  <a:srgbClr val="2C2C2C"/>
                </a:solidFill>
                <a:latin typeface="Yu Mincho"/>
              </a:rPr>
              <a:t>前回ヒアリングの振り返りと提案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9436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900" b="0" i="0">
                <a:solidFill>
                  <a:srgbClr val="7A7A7A"/>
                </a:solidFill>
                <a:latin typeface="Consolas"/>
              </a:rPr>
              <a:t>山田     /  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7A7A7A"/>
                </a:solidFill>
                <a:latin typeface="Consolas"/>
              </a:rPr>
              <a:t>UTAKATA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7A7A7A"/>
                </a:solidFill>
                <a:latin typeface="Consolas"/>
              </a:rPr>
              <a:t>02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7240"/>
            <a:ext cx="7863840" cy="0"/>
          </a:xfrm>
          <a:prstGeom prst="line">
            <a:avLst/>
          </a:prstGeom>
          <a:ln w="6350">
            <a:solidFill>
              <a:srgbClr val="E8E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45615F"/>
                </a:solidFill>
                <a:latin typeface="Yu Mincho"/>
              </a:rPr>
              <a:t>アジェンダ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前回ヒアリングの振り返りと、今回の提案2点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B89178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49424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2C2C2C"/>
                </a:solidFill>
                <a:latin typeface="Yu Mincho"/>
              </a:rPr>
              <a:t>前回ヒアリングの振り返り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060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7A7A7A"/>
                </a:solidFill>
                <a:latin typeface="Yu Gothic"/>
              </a:rPr>
              <a:t>前回出た課題の整理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3063240"/>
            <a:ext cx="7863840" cy="0"/>
          </a:xfrm>
          <a:prstGeom prst="line">
            <a:avLst/>
          </a:prstGeom>
          <a:ln w="6350">
            <a:solidFill>
              <a:srgbClr val="E8E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2004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B89178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163824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2C2C2C"/>
                </a:solidFill>
                <a:latin typeface="Yu Mincho"/>
              </a:rPr>
              <a:t>提案① プロンプト一覧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520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7A7A7A"/>
                </a:solidFill>
                <a:latin typeface="Yu Gothic"/>
              </a:rPr>
              <a:t>投稿の言葉づくり用ツール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3977640"/>
            <a:ext cx="7863840" cy="0"/>
          </a:xfrm>
          <a:prstGeom prst="line">
            <a:avLst/>
          </a:prstGeom>
          <a:ln w="6350">
            <a:solidFill>
              <a:srgbClr val="E8E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41148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B89178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078224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2C2C2C"/>
                </a:solidFill>
                <a:latin typeface="Yu Mincho"/>
              </a:rPr>
              <a:t>提案② 動画エディタ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4348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7A7A7A"/>
                </a:solidFill>
                <a:latin typeface="Yu Gothic"/>
              </a:rPr>
              <a:t>テロップ位置調整不要の編集ツール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4892040"/>
            <a:ext cx="7863840" cy="0"/>
          </a:xfrm>
          <a:prstGeom prst="line">
            <a:avLst/>
          </a:prstGeom>
          <a:ln w="6350">
            <a:solidFill>
              <a:srgbClr val="E8E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2960" y="50292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B89178"/>
                </a:solidFill>
                <a:latin typeface="Consola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992624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2C2C2C"/>
                </a:solidFill>
                <a:latin typeface="Yu Mincho"/>
              </a:rPr>
              <a:t>次回までのアクション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3492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7A7A7A"/>
                </a:solidFill>
                <a:latin typeface="Yu Gothic"/>
              </a:rPr>
              <a:t>3週間の導入計画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5806440"/>
            <a:ext cx="7863840" cy="0"/>
          </a:xfrm>
          <a:prstGeom prst="line">
            <a:avLst/>
          </a:prstGeom>
          <a:ln w="6350">
            <a:solidFill>
              <a:srgbClr val="E8E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40080" y="6263640"/>
            <a:ext cx="7863840" cy="0"/>
          </a:xfrm>
          <a:prstGeom prst="line">
            <a:avLst/>
          </a:prstGeom>
          <a:ln w="6350">
            <a:solidFill>
              <a:srgbClr val="E8E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" y="635508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1">
                <a:solidFill>
                  <a:srgbClr val="7A7A7A"/>
                </a:solidFill>
                <a:latin typeface="Yu Gothic"/>
              </a:rPr>
              <a:t>所要 約30分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7A7A7A"/>
                </a:solidFill>
                <a:latin typeface="Consolas"/>
              </a:rPr>
              <a:t>UTAKATA  —  振り返り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7A7A7A"/>
                </a:solidFill>
                <a:latin typeface="Consolas"/>
              </a:rPr>
              <a:t>03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7240"/>
            <a:ext cx="7863840" cy="0"/>
          </a:xfrm>
          <a:prstGeom prst="line">
            <a:avLst/>
          </a:prstGeom>
          <a:ln w="6350">
            <a:solidFill>
              <a:srgbClr val="E8E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45615F"/>
                </a:solidFill>
                <a:latin typeface="Yu Mincho"/>
              </a:rPr>
              <a:t>前回ヒアリングで出た課題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ヒアリング内容を4点に整理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3749039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286000"/>
            <a:ext cx="54864" cy="1645920"/>
          </a:xfrm>
          <a:prstGeom prst="rect">
            <a:avLst/>
          </a:prstGeom>
          <a:solidFill>
            <a:srgbClr val="B89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B89178"/>
                </a:solidFill>
                <a:latin typeface="Consolas"/>
              </a:rPr>
              <a:t>PAIN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38327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C2C2C"/>
                </a:solidFill>
                <a:latin typeface="Yu Mincho"/>
              </a:rPr>
              <a:t>リール投稿の続け方が分からない。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C2C2C"/>
                </a:solidFill>
                <a:latin typeface="Yu Mincho"/>
              </a:rPr>
              <a:t>月1本がやっと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2286000"/>
            <a:ext cx="3749039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0" y="2286000"/>
            <a:ext cx="54864" cy="1645920"/>
          </a:xfrm>
          <a:prstGeom prst="rect">
            <a:avLst/>
          </a:prstGeom>
          <a:solidFill>
            <a:srgbClr val="B89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24688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B89178"/>
                </a:solidFill>
                <a:latin typeface="Consolas"/>
              </a:rPr>
              <a:t>PAIN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834640"/>
            <a:ext cx="338327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C2C2C"/>
                </a:solidFill>
                <a:latin typeface="Yu Mincho"/>
              </a:rPr>
              <a:t>編集に時間がかかりすぎる。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C2C2C"/>
                </a:solidFill>
                <a:latin typeface="Yu Mincho"/>
              </a:rPr>
              <a:t>テロップ位置に悩む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114800"/>
            <a:ext cx="3749039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114800"/>
            <a:ext cx="54864" cy="1645920"/>
          </a:xfrm>
          <a:prstGeom prst="rect">
            <a:avLst/>
          </a:prstGeom>
          <a:solidFill>
            <a:srgbClr val="B89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2976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B89178"/>
                </a:solidFill>
                <a:latin typeface="Consolas"/>
              </a:rPr>
              <a:t>PAIN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63440"/>
            <a:ext cx="338327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C2C2C"/>
                </a:solidFill>
                <a:latin typeface="Yu Mincho"/>
              </a:rPr>
              <a:t>「うたかたらしさ」を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C2C2C"/>
                </a:solidFill>
                <a:latin typeface="Yu Mincho"/>
              </a:rPr>
              <a:t>ブレずに保ちたい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4114800"/>
            <a:ext cx="3749039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0" y="4114800"/>
            <a:ext cx="54864" cy="1645920"/>
          </a:xfrm>
          <a:prstGeom prst="rect">
            <a:avLst/>
          </a:prstGeom>
          <a:solidFill>
            <a:srgbClr val="B89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42976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B89178"/>
                </a:solidFill>
                <a:latin typeface="Consolas"/>
              </a:rPr>
              <a:t>PAIN 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4663440"/>
            <a:ext cx="338327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C2C2C"/>
                </a:solidFill>
                <a:latin typeface="Yu Mincho"/>
              </a:rPr>
              <a:t>「劇的変化」を煽る発信に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C2C2C"/>
                </a:solidFill>
                <a:latin typeface="Yu Mincho"/>
              </a:rPr>
              <a:t>違和感がある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6263640"/>
            <a:ext cx="7863840" cy="0"/>
          </a:xfrm>
          <a:prstGeom prst="line">
            <a:avLst/>
          </a:prstGeom>
          <a:ln w="6350">
            <a:solidFill>
              <a:srgbClr val="E8E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" y="635508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1">
                <a:solidFill>
                  <a:srgbClr val="7A7A7A"/>
                </a:solidFill>
                <a:latin typeface="Yu Gothic"/>
              </a:rPr>
              <a:t>※ ヒアリングメモから抜粋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7A7A7A"/>
                </a:solidFill>
                <a:latin typeface="Consolas"/>
              </a:rPr>
              <a:t>UTAKATA  —  振り返り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7A7A7A"/>
                </a:solidFill>
                <a:latin typeface="Consolas"/>
              </a:rPr>
              <a:t>04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7240"/>
            <a:ext cx="7863840" cy="0"/>
          </a:xfrm>
          <a:prstGeom prst="line">
            <a:avLst/>
          </a:prstGeom>
          <a:ln w="6350">
            <a:solidFill>
              <a:srgbClr val="E8E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45615F"/>
                </a:solidFill>
                <a:latin typeface="Yu Mincho"/>
              </a:rPr>
              <a:t>ブランドの軸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提案の判断基準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24688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4400" b="0" i="0">
                <a:solidFill>
                  <a:srgbClr val="B89178"/>
                </a:solidFill>
                <a:latin typeface="Yu Minch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600" b="1" i="0">
                <a:solidFill>
                  <a:srgbClr val="45615F"/>
                </a:solidFill>
                <a:latin typeface="Yu Mincho"/>
              </a:rPr>
              <a:t>押し売りしない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343400"/>
            <a:ext cx="2103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感情を煽る表現・</a:t>
            </a:r>
          </a:p>
          <a:p>
            <a:pPr algn="ctr">
              <a:lnSpc>
                <a:spcPct val="16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割引強調は使わない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0712" y="2286000"/>
            <a:ext cx="24688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0712" y="269748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4400" b="0" i="0">
                <a:solidFill>
                  <a:srgbClr val="B89178"/>
                </a:solidFill>
                <a:latin typeface="Yu Minch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37490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600" b="1" i="0">
                <a:solidFill>
                  <a:srgbClr val="45615F"/>
                </a:solidFill>
                <a:latin typeface="Yu Mincho"/>
              </a:rPr>
              <a:t>過剰演出しない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4343400"/>
            <a:ext cx="2103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「劇的」「絶対」など</a:t>
            </a:r>
          </a:p>
          <a:p>
            <a:pPr algn="ctr">
              <a:lnSpc>
                <a:spcPct val="16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誇張表現は不可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44184" y="2286000"/>
            <a:ext cx="24688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44184" y="269748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4400" b="0" i="0">
                <a:solidFill>
                  <a:srgbClr val="B89178"/>
                </a:solidFill>
                <a:latin typeface="Yu Minch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44184" y="37490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600" b="1" i="0">
                <a:solidFill>
                  <a:srgbClr val="45615F"/>
                </a:solidFill>
                <a:latin typeface="Yu Mincho"/>
              </a:rPr>
              <a:t>継続可能なペース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4343400"/>
            <a:ext cx="2103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月3〜4本ペースで</a:t>
            </a:r>
          </a:p>
          <a:p>
            <a:pPr algn="ctr">
              <a:lnSpc>
                <a:spcPct val="16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運用負荷を制御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263640"/>
            <a:ext cx="7863840" cy="0"/>
          </a:xfrm>
          <a:prstGeom prst="line">
            <a:avLst/>
          </a:prstGeom>
          <a:ln w="6350">
            <a:solidFill>
              <a:srgbClr val="E8E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635508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B89178"/>
                </a:solidFill>
                <a:latin typeface="Yu Gothic"/>
              </a:rPr>
              <a:t>提案はこの3基準を満たすこと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7A7A7A"/>
                </a:solidFill>
                <a:latin typeface="Consolas"/>
              </a:rPr>
              <a:t>UTAKATA  —  解決の方向性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7A7A7A"/>
                </a:solidFill>
                <a:latin typeface="Consolas"/>
              </a:rPr>
              <a:t>05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7240"/>
            <a:ext cx="7863840" cy="0"/>
          </a:xfrm>
          <a:prstGeom prst="line">
            <a:avLst/>
          </a:prstGeom>
          <a:ln w="6350">
            <a:solidFill>
              <a:srgbClr val="E8E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45615F"/>
                </a:solidFill>
                <a:latin typeface="Yu Mincho"/>
              </a:rPr>
              <a:t>3つのアプローチ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AI任せにせず、人の判断を残す設計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22860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1" i="0">
                <a:solidFill>
                  <a:srgbClr val="45615F"/>
                </a:solidFill>
                <a:latin typeface="Yu Mincho"/>
              </a:rPr>
              <a:t>① 言葉づくり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2900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ChatGPTを</a:t>
            </a:r>
          </a:p>
          <a:p>
            <a:pPr algn="ctr">
              <a:lnSpc>
                <a:spcPct val="16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道具として使う</a:t>
            </a:r>
          </a:p>
          <a:p>
            <a:pPr algn="ctr">
              <a:lnSpc>
                <a:spcPct val="16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うたかた専用プロンプト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600" b="0" i="0">
                <a:solidFill>
                  <a:srgbClr val="B89178"/>
                </a:solidFill>
                <a:latin typeface="Yu Gothic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468880"/>
            <a:ext cx="22860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28346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1" i="0">
                <a:solidFill>
                  <a:srgbClr val="45615F"/>
                </a:solidFill>
                <a:latin typeface="Yu Mincho"/>
              </a:rPr>
              <a:t>② 動画編集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42900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テロップ位置を</a:t>
            </a:r>
          </a:p>
          <a:p>
            <a:pPr algn="ctr">
              <a:lnSpc>
                <a:spcPct val="16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悩まないツール</a:t>
            </a:r>
          </a:p>
          <a:p>
            <a:pPr algn="ctr">
              <a:lnSpc>
                <a:spcPct val="16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ブラウザで完結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600" b="0" i="0">
                <a:solidFill>
                  <a:srgbClr val="B89178"/>
                </a:solidFill>
                <a:latin typeface="Yu Gothic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2468880"/>
            <a:ext cx="22860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28346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1" i="0">
                <a:solidFill>
                  <a:srgbClr val="45615F"/>
                </a:solidFill>
                <a:latin typeface="Yu Mincho"/>
              </a:rPr>
              <a:t>③ 撮影設計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342900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1シーン1動画で</a:t>
            </a:r>
          </a:p>
          <a:p>
            <a:pPr algn="ctr">
              <a:lnSpc>
                <a:spcPct val="16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短く分けて撮影</a:t>
            </a:r>
          </a:p>
          <a:p>
            <a:pPr algn="ctr">
              <a:lnSpc>
                <a:spcPct val="16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編集が10分に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93776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 i="0">
                <a:solidFill>
                  <a:srgbClr val="2C2C2C"/>
                </a:solidFill>
                <a:latin typeface="Yu Mincho"/>
              </a:rPr>
              <a:t>本日は ① と ② を扱う。</a:t>
            </a:r>
          </a:p>
          <a:p>
            <a:pPr algn="l">
              <a:lnSpc>
                <a:spcPct val="170000"/>
              </a:lnSpc>
            </a:pPr>
            <a:r>
              <a:rPr sz="1200" b="0" i="0">
                <a:solidFill>
                  <a:srgbClr val="2C2C2C"/>
                </a:solidFill>
                <a:latin typeface="Yu Mincho"/>
              </a:rPr>
              <a:t>③（撮影設計）は別資料を参照。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263640"/>
            <a:ext cx="7863840" cy="0"/>
          </a:xfrm>
          <a:prstGeom prst="line">
            <a:avLst/>
          </a:prstGeom>
          <a:ln w="6350">
            <a:solidFill>
              <a:srgbClr val="E8E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635508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1">
                <a:solidFill>
                  <a:srgbClr val="7A7A7A"/>
                </a:solidFill>
                <a:latin typeface="Yu Gothic"/>
              </a:rPr>
              <a:t>参考資料:  salon-highlight-guide.html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7A7A7A"/>
                </a:solidFill>
                <a:latin typeface="Consolas"/>
              </a:rPr>
              <a:t>UTAKATA  —  提案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7A7A7A"/>
                </a:solidFill>
                <a:latin typeface="Consolas"/>
              </a:rPr>
              <a:t>06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7240"/>
            <a:ext cx="7863840" cy="0"/>
          </a:xfrm>
          <a:prstGeom prst="line">
            <a:avLst/>
          </a:prstGeom>
          <a:ln w="6350">
            <a:solidFill>
              <a:srgbClr val="E8E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0080" y="1097280"/>
            <a:ext cx="7863840" cy="1828800"/>
          </a:xfrm>
          <a:prstGeom prst="rect">
            <a:avLst/>
          </a:prstGeom>
          <a:solidFill>
            <a:srgbClr val="2D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17320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B89178"/>
                </a:solidFill>
                <a:latin typeface="Consolas"/>
              </a:rPr>
              <a:t>PROPOSAL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 i="0">
                <a:solidFill>
                  <a:srgbClr val="FFFFFF"/>
                </a:solidFill>
                <a:latin typeface="Yu Mincho"/>
              </a:rPr>
              <a:t>プロンプト一覧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2316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CFCBC0"/>
                </a:solidFill>
                <a:latin typeface="Yu Gothic"/>
              </a:rPr>
              <a:t>ChatGPTで投稿の言葉づくりを高速化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78638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90000"/>
              </a:lnSpc>
            </a:pPr>
            <a:r>
              <a:rPr sz="1400" b="0" i="0">
                <a:solidFill>
                  <a:srgbClr val="2C2C2C"/>
                </a:solidFill>
                <a:latin typeface="Yu Mincho"/>
              </a:rPr>
              <a:t>ChatGPTに「リール5本」のような短いトリガー語を打つと、</a:t>
            </a:r>
          </a:p>
          <a:p>
            <a:pPr algn="l">
              <a:lnSpc>
                <a:spcPct val="190000"/>
              </a:lnSpc>
            </a:pPr>
            <a:r>
              <a:rPr sz="1400" b="0" i="0">
                <a:solidFill>
                  <a:srgbClr val="2C2C2C"/>
                </a:solidFill>
                <a:latin typeface="Yu Mincho"/>
              </a:rPr>
              <a:t>ブランドに沿った投稿案がまとめて出力される仕組み。</a:t>
            </a:r>
          </a:p>
          <a:p>
            <a:pPr algn="l">
              <a:lnSpc>
                <a:spcPct val="190000"/>
              </a:lnSpc>
            </a:pPr>
            <a:r>
              <a:rPr sz="1400" b="0" i="0">
                <a:solidFill>
                  <a:srgbClr val="2C2C2C"/>
                </a:solidFill>
                <a:latin typeface="Yu Mincho"/>
              </a:rPr>
              <a:t/>
            </a:r>
          </a:p>
          <a:p>
            <a:pPr algn="l">
              <a:lnSpc>
                <a:spcPct val="190000"/>
              </a:lnSpc>
            </a:pPr>
            <a:r>
              <a:rPr sz="1400" b="0" i="0">
                <a:solidFill>
                  <a:srgbClr val="2C2C2C"/>
                </a:solidFill>
                <a:latin typeface="Yu Mincho"/>
              </a:rPr>
              <a:t>投稿のたびにゼロから考える時間を削減。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263640"/>
            <a:ext cx="7863840" cy="0"/>
          </a:xfrm>
          <a:prstGeom prst="line">
            <a:avLst/>
          </a:prstGeom>
          <a:ln w="6350">
            <a:solidFill>
              <a:srgbClr val="E8E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635508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1">
                <a:solidFill>
                  <a:srgbClr val="7A7A7A"/>
                </a:solidFill>
                <a:latin typeface="Yu Gothic"/>
              </a:rPr>
              <a:t>実物: salon-prompts.html  /  15種類のトリガー（次ページ）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7A7A7A"/>
                </a:solidFill>
                <a:latin typeface="Consolas"/>
              </a:rPr>
              <a:t>UTAKATA  —  提案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7A7A7A"/>
                </a:solidFill>
                <a:latin typeface="Consolas"/>
              </a:rPr>
              <a:t>07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7240"/>
            <a:ext cx="7863840" cy="0"/>
          </a:xfrm>
          <a:prstGeom prst="line">
            <a:avLst/>
          </a:prstGeom>
          <a:ln w="6350">
            <a:solidFill>
              <a:srgbClr val="E8E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45615F"/>
                </a:solidFill>
                <a:latin typeface="Yu Mincho"/>
              </a:rPr>
              <a:t>15種類のトリガー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用途別のトリガー語を15種類用意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1508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50592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0">
                <a:solidFill>
                  <a:srgbClr val="45615F"/>
                </a:solidFill>
                <a:latin typeface="Yu Mincho"/>
              </a:rPr>
              <a:t>リール5本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61488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800" b="1" i="0">
                <a:solidFill>
                  <a:srgbClr val="B89178"/>
                </a:solidFill>
                <a:latin typeface="Consolas"/>
              </a:rPr>
              <a:t>REEL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80" y="2286000"/>
            <a:ext cx="1508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0280" y="2450592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0">
                <a:solidFill>
                  <a:srgbClr val="45615F"/>
                </a:solidFill>
                <a:latin typeface="Yu Mincho"/>
              </a:rPr>
              <a:t>フィード3本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761488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800" b="1" i="0">
                <a:solidFill>
                  <a:srgbClr val="B89178"/>
                </a:solidFill>
                <a:latin typeface="Consolas"/>
              </a:rPr>
              <a:t>FEED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94760" y="2286000"/>
            <a:ext cx="1508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2450592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0">
                <a:solidFill>
                  <a:srgbClr val="45615F"/>
                </a:solidFill>
                <a:latin typeface="Yu Mincho"/>
              </a:rPr>
              <a:t>ストーリーズ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761488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800" b="1" i="0">
                <a:solidFill>
                  <a:srgbClr val="B89178"/>
                </a:solidFill>
                <a:latin typeface="Consolas"/>
              </a:rPr>
              <a:t>STORY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9240" y="2286000"/>
            <a:ext cx="1508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2450592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0">
                <a:solidFill>
                  <a:srgbClr val="45615F"/>
                </a:solidFill>
                <a:latin typeface="Yu Mincho"/>
              </a:rPr>
              <a:t>キャプション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761488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800" b="1" i="0">
                <a:solidFill>
                  <a:srgbClr val="B89178"/>
                </a:solidFill>
                <a:latin typeface="Consolas"/>
              </a:rPr>
              <a:t>CAPTION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03720" y="2286000"/>
            <a:ext cx="1508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2450592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0">
                <a:solidFill>
                  <a:srgbClr val="45615F"/>
                </a:solidFill>
                <a:latin typeface="Yu Mincho"/>
              </a:rPr>
              <a:t>ハッシュタグ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2761488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800" b="1" i="0">
                <a:solidFill>
                  <a:srgbClr val="B89178"/>
                </a:solidFill>
                <a:latin typeface="Consolas"/>
              </a:rPr>
              <a:t>HASH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246120"/>
            <a:ext cx="1508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410712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0">
                <a:solidFill>
                  <a:srgbClr val="45615F"/>
                </a:solidFill>
                <a:latin typeface="Yu Mincho"/>
              </a:rPr>
              <a:t>月次テーマ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721608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800" b="1" i="0">
                <a:solidFill>
                  <a:srgbClr val="B89178"/>
                </a:solidFill>
                <a:latin typeface="Consolas"/>
              </a:rPr>
              <a:t>MONTH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40280" y="3246120"/>
            <a:ext cx="1508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40280" y="3410712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0">
                <a:solidFill>
                  <a:srgbClr val="45615F"/>
                </a:solidFill>
                <a:latin typeface="Yu Mincho"/>
              </a:rPr>
              <a:t>週次テーマ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3721608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800" b="1" i="0">
                <a:solidFill>
                  <a:srgbClr val="B89178"/>
                </a:solidFill>
                <a:latin typeface="Consolas"/>
              </a:rPr>
              <a:t>WEEK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94760" y="3246120"/>
            <a:ext cx="1508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94760" y="3410712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0">
                <a:solidFill>
                  <a:srgbClr val="45615F"/>
                </a:solidFill>
                <a:latin typeface="Yu Mincho"/>
              </a:rPr>
              <a:t>部位別投稿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3721608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800" b="1" i="0">
                <a:solidFill>
                  <a:srgbClr val="B89178"/>
                </a:solidFill>
                <a:latin typeface="Consolas"/>
              </a:rPr>
              <a:t>PART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49240" y="3246120"/>
            <a:ext cx="1508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3410712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0">
                <a:solidFill>
                  <a:srgbClr val="45615F"/>
                </a:solidFill>
                <a:latin typeface="Yu Mincho"/>
              </a:rPr>
              <a:t>悩み言語化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3721608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800" b="1" i="0">
                <a:solidFill>
                  <a:srgbClr val="B89178"/>
                </a:solidFill>
                <a:latin typeface="Consolas"/>
              </a:rPr>
              <a:t>PAIN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03720" y="3246120"/>
            <a:ext cx="1508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03720" y="3410712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0">
                <a:solidFill>
                  <a:srgbClr val="45615F"/>
                </a:solidFill>
                <a:latin typeface="Yu Mincho"/>
              </a:rPr>
              <a:t>考え方を伝える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3721608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800" b="1" i="0">
                <a:solidFill>
                  <a:srgbClr val="B89178"/>
                </a:solidFill>
                <a:latin typeface="Consolas"/>
              </a:rPr>
              <a:t>VOICE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4206240"/>
            <a:ext cx="1508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370832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0">
                <a:solidFill>
                  <a:srgbClr val="45615F"/>
                </a:solidFill>
                <a:latin typeface="Yu Mincho"/>
              </a:rPr>
              <a:t>予約導線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4681728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800" b="1" i="0">
                <a:solidFill>
                  <a:srgbClr val="B89178"/>
                </a:solidFill>
                <a:latin typeface="Consolas"/>
              </a:rPr>
              <a:t>CTA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40280" y="4206240"/>
            <a:ext cx="1508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40280" y="4370832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0">
                <a:solidFill>
                  <a:srgbClr val="45615F"/>
                </a:solidFill>
                <a:latin typeface="Yu Mincho"/>
              </a:rPr>
              <a:t>LINE配信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40280" y="4681728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800" b="1" i="0">
                <a:solidFill>
                  <a:srgbClr val="B89178"/>
                </a:solidFill>
                <a:latin typeface="Consolas"/>
              </a:rPr>
              <a:t>LINE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94760" y="4206240"/>
            <a:ext cx="1508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94760" y="4370832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0">
                <a:solidFill>
                  <a:srgbClr val="45615F"/>
                </a:solidFill>
                <a:latin typeface="Yu Mincho"/>
              </a:rPr>
              <a:t>お客様の声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94760" y="4681728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800" b="1" i="0">
                <a:solidFill>
                  <a:srgbClr val="B89178"/>
                </a:solidFill>
                <a:latin typeface="Consolas"/>
              </a:rPr>
              <a:t>VOC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49240" y="4206240"/>
            <a:ext cx="1508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49240" y="4370832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0">
                <a:solidFill>
                  <a:srgbClr val="45615F"/>
                </a:solidFill>
                <a:latin typeface="Yu Mincho"/>
              </a:rPr>
              <a:t>季節投稿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49240" y="4681728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800" b="1" i="0">
                <a:solidFill>
                  <a:srgbClr val="B89178"/>
                </a:solidFill>
                <a:latin typeface="Consolas"/>
              </a:rPr>
              <a:t>SEASON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03720" y="4206240"/>
            <a:ext cx="1508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03720" y="4370832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0">
                <a:solidFill>
                  <a:srgbClr val="45615F"/>
                </a:solidFill>
                <a:latin typeface="Yu Mincho"/>
              </a:rPr>
              <a:t>NGチェック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4681728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800" b="1" i="0">
                <a:solidFill>
                  <a:srgbClr val="B89178"/>
                </a:solidFill>
                <a:latin typeface="Consolas"/>
              </a:rPr>
              <a:t>NG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40080" y="6263640"/>
            <a:ext cx="7863840" cy="0"/>
          </a:xfrm>
          <a:prstGeom prst="line">
            <a:avLst/>
          </a:prstGeom>
          <a:ln w="6350">
            <a:solidFill>
              <a:srgbClr val="E8E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40080" y="635508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B89178"/>
                </a:solidFill>
                <a:latin typeface="Yu Gothic"/>
              </a:rPr>
              <a:t>例: 月の方針が定まらない時は「月次テーマ」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7A7A7A"/>
                </a:solidFill>
                <a:latin typeface="Consolas"/>
              </a:rPr>
              <a:t>UTAKATA  —  提案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7A7A7A"/>
                </a:solidFill>
                <a:latin typeface="Consolas"/>
              </a:rPr>
              <a:t>08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7240"/>
            <a:ext cx="7863840" cy="0"/>
          </a:xfrm>
          <a:prstGeom prst="line">
            <a:avLst/>
          </a:prstGeom>
          <a:ln w="6350">
            <a:solidFill>
              <a:srgbClr val="E8E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45615F"/>
                </a:solidFill>
                <a:latin typeface="Yu Mincho"/>
              </a:rPr>
              <a:t>使い方は3ステップ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事前準備は1回のみ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22860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63040" y="2788920"/>
            <a:ext cx="457200" cy="457200"/>
          </a:xfrm>
          <a:prstGeom prst="ellipse">
            <a:avLst/>
          </a:prstGeom>
          <a:solidFill>
            <a:srgbClr val="5D7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1" i="0">
                <a:solidFill>
                  <a:srgbClr val="45615F"/>
                </a:solidFill>
                <a:latin typeface="Yu Mincho"/>
              </a:rPr>
              <a:t>事前準備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31920"/>
            <a:ext cx="2011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ChatGPTに</a:t>
            </a:r>
          </a:p>
          <a:p>
            <a:pPr algn="ctr">
              <a:lnSpc>
                <a:spcPct val="16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プロジェクト用</a:t>
            </a:r>
          </a:p>
          <a:p>
            <a:pPr algn="ctr">
              <a:lnSpc>
                <a:spcPct val="16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プロンプトを貼る</a:t>
            </a:r>
          </a:p>
          <a:p>
            <a:pPr algn="ctr">
              <a:lnSpc>
                <a:spcPct val="16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（最初の1回だけ）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6118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600" b="0" i="0">
                <a:solidFill>
                  <a:srgbClr val="B89178"/>
                </a:solidFill>
                <a:latin typeface="Yu Gothic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2468880"/>
            <a:ext cx="22860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14800" y="2788920"/>
            <a:ext cx="457200" cy="457200"/>
          </a:xfrm>
          <a:prstGeom prst="ellipse">
            <a:avLst/>
          </a:prstGeom>
          <a:solidFill>
            <a:srgbClr val="5D7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28346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1" i="0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429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1" i="0">
                <a:solidFill>
                  <a:srgbClr val="45615F"/>
                </a:solidFill>
                <a:latin typeface="Yu Mincho"/>
              </a:rPr>
              <a:t>毎日の使用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931920"/>
            <a:ext cx="2011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トリガー語を</a:t>
            </a:r>
          </a:p>
          <a:p>
            <a:pPr algn="ctr">
              <a:lnSpc>
                <a:spcPct val="16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1〜2語打つ</a:t>
            </a:r>
          </a:p>
          <a:p>
            <a:pPr algn="ctr">
              <a:lnSpc>
                <a:spcPct val="16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例:「リール5本」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36118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600" b="0" i="0">
                <a:solidFill>
                  <a:srgbClr val="B89178"/>
                </a:solidFill>
                <a:latin typeface="Yu Gothic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2468880"/>
            <a:ext cx="22860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66560" y="2788920"/>
            <a:ext cx="457200" cy="457200"/>
          </a:xfrm>
          <a:prstGeom prst="ellipse">
            <a:avLst/>
          </a:prstGeom>
          <a:solidFill>
            <a:srgbClr val="5D7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0" y="28346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1" i="0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429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1" i="0">
                <a:solidFill>
                  <a:srgbClr val="45615F"/>
                </a:solidFill>
                <a:latin typeface="Yu Mincho"/>
              </a:rPr>
              <a:t>微調整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3931920"/>
            <a:ext cx="2011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出てきた案から</a:t>
            </a:r>
          </a:p>
          <a:p>
            <a:pPr algn="ctr">
              <a:lnSpc>
                <a:spcPct val="16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使える1つを選んで</a:t>
            </a:r>
          </a:p>
          <a:p>
            <a:pPr algn="ctr">
              <a:lnSpc>
                <a:spcPct val="16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言葉を少し直す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56235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7A7A7A"/>
                </a:solidFill>
                <a:latin typeface="Yu Gothic"/>
              </a:rPr>
              <a:t>1投稿あたり 3〜5分 で完成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263640"/>
            <a:ext cx="7863840" cy="0"/>
          </a:xfrm>
          <a:prstGeom prst="line">
            <a:avLst/>
          </a:prstGeom>
          <a:ln w="6350">
            <a:solidFill>
              <a:srgbClr val="E8E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" y="635508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1">
                <a:solidFill>
                  <a:srgbClr val="7A7A7A"/>
                </a:solidFill>
                <a:latin typeface="Yu Gothic"/>
              </a:rPr>
              <a:t>本日デモを実施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7A7A7A"/>
                </a:solidFill>
                <a:latin typeface="Consolas"/>
              </a:rPr>
              <a:t>UTAKATA  —  提案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7A7A7A"/>
                </a:solidFill>
                <a:latin typeface="Consolas"/>
              </a:rPr>
              <a:t>09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7240"/>
            <a:ext cx="7863840" cy="0"/>
          </a:xfrm>
          <a:prstGeom prst="line">
            <a:avLst/>
          </a:prstGeom>
          <a:ln w="6350">
            <a:solidFill>
              <a:srgbClr val="E8E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0080" y="1097280"/>
            <a:ext cx="7863840" cy="1828800"/>
          </a:xfrm>
          <a:prstGeom prst="rect">
            <a:avLst/>
          </a:prstGeom>
          <a:solidFill>
            <a:srgbClr val="2D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17320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B89178"/>
                </a:solidFill>
                <a:latin typeface="Consolas"/>
              </a:rPr>
              <a:t>PROPOSAL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 i="0">
                <a:solidFill>
                  <a:srgbClr val="FFFFFF"/>
                </a:solidFill>
                <a:latin typeface="Yu Mincho"/>
              </a:rPr>
              <a:t>動画エディタ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2316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CFCBC0"/>
                </a:solidFill>
                <a:latin typeface="Yu Gothic"/>
              </a:rPr>
              <a:t>テロップ位置を悩まないブラウザ完結ツール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786384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0000"/>
              </a:lnSpc>
            </a:pPr>
            <a:r>
              <a:rPr sz="1300" b="0" i="0">
                <a:solidFill>
                  <a:srgbClr val="2C2C2C"/>
                </a:solidFill>
                <a:latin typeface="Yu Mincho"/>
              </a:rPr>
              <a:t>動画にテロップを重ねるのではなく、</a:t>
            </a:r>
          </a:p>
          <a:p>
            <a:pPr algn="l">
              <a:lnSpc>
                <a:spcPct val="180000"/>
              </a:lnSpc>
            </a:pPr>
            <a:r>
              <a:rPr sz="1300" b="0" i="0">
                <a:solidFill>
                  <a:srgbClr val="2C2C2C"/>
                </a:solidFill>
                <a:latin typeface="Yu Mincho"/>
              </a:rPr>
              <a:t>動画の上下に固定の枠を設けて文字を入れる仕組み。</a:t>
            </a:r>
          </a:p>
          <a:p>
            <a:pPr algn="l">
              <a:lnSpc>
                <a:spcPct val="180000"/>
              </a:lnSpc>
            </a:pPr>
            <a:r>
              <a:rPr sz="1300" b="0" i="0">
                <a:solidFill>
                  <a:srgbClr val="2C2C2C"/>
                </a:solidFill>
                <a:latin typeface="Yu Mincho"/>
              </a:rPr>
              <a:t/>
            </a:r>
          </a:p>
          <a:p>
            <a:pPr algn="l">
              <a:lnSpc>
                <a:spcPct val="180000"/>
              </a:lnSpc>
            </a:pPr>
            <a:r>
              <a:rPr sz="1300" b="0" i="0">
                <a:solidFill>
                  <a:srgbClr val="2C2C2C"/>
                </a:solidFill>
                <a:latin typeface="Yu Mincho"/>
              </a:rPr>
              <a:t>・テロップが顔に被らない</a:t>
            </a:r>
          </a:p>
          <a:p>
            <a:pPr algn="l">
              <a:lnSpc>
                <a:spcPct val="180000"/>
              </a:lnSpc>
            </a:pPr>
            <a:r>
              <a:rPr sz="1300" b="0" i="0">
                <a:solidFill>
                  <a:srgbClr val="2C2C2C"/>
                </a:solidFill>
                <a:latin typeface="Yu Mincho"/>
              </a:rPr>
              <a:t>・位置調整が不要</a:t>
            </a:r>
          </a:p>
          <a:p>
            <a:pPr algn="l">
              <a:lnSpc>
                <a:spcPct val="180000"/>
              </a:lnSpc>
            </a:pPr>
            <a:r>
              <a:rPr sz="1300" b="0" i="0">
                <a:solidFill>
                  <a:srgbClr val="2C2C2C"/>
                </a:solidFill>
                <a:latin typeface="Yu Mincho"/>
              </a:rPr>
              <a:t>・ブランドの統一感を保ったまま量産可能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263640"/>
            <a:ext cx="7863840" cy="0"/>
          </a:xfrm>
          <a:prstGeom prst="line">
            <a:avLst/>
          </a:prstGeom>
          <a:ln w="6350">
            <a:solidFill>
              <a:srgbClr val="E8E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635508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1">
                <a:solidFill>
                  <a:srgbClr val="7A7A7A"/>
                </a:solidFill>
                <a:latin typeface="Yu Gothic"/>
              </a:rPr>
              <a:t>アクセス: utakata-subtitle.vercel.app/salon-editor.html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7A7A7A"/>
                </a:solidFill>
                <a:latin typeface="Consolas"/>
              </a:rPr>
              <a:t>UTAKATA  —  提案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7A7A7A"/>
                </a:solidFill>
                <a:latin typeface="Consolas"/>
              </a:rPr>
              <a:t>10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7240"/>
            <a:ext cx="7863840" cy="0"/>
          </a:xfrm>
          <a:prstGeom prst="line">
            <a:avLst/>
          </a:prstGeom>
          <a:ln w="6350">
            <a:solidFill>
              <a:srgbClr val="E8E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45615F"/>
                </a:solidFill>
                <a:latin typeface="Yu Mincho"/>
              </a:rPr>
              <a:t>エディタの仕組み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上下の固定枠と中央の動画エリアの3層構造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286000"/>
            <a:ext cx="19202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286000"/>
            <a:ext cx="1920240" cy="507309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9572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0">
                <a:solidFill>
                  <a:srgbClr val="2C2C2C"/>
                </a:solidFill>
                <a:latin typeface="Yu Mincho"/>
              </a:rPr>
              <a:t>呼吸が浅い日に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793309"/>
            <a:ext cx="1920240" cy="2460101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8862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0">
                <a:solidFill>
                  <a:srgbClr val="CFCBC0"/>
                </a:solidFill>
                <a:latin typeface="Yu Gothic"/>
              </a:rPr>
              <a:t>▶ 動画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253410"/>
            <a:ext cx="1920240" cy="507309"/>
          </a:xfrm>
          <a:prstGeom prst="rect">
            <a:avLst/>
          </a:prstGeom>
          <a:solidFill>
            <a:srgbClr val="B89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36313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1" i="0">
                <a:solidFill>
                  <a:srgbClr val="FFFFFF"/>
                </a:solidFill>
                <a:latin typeface="Yu Gothic"/>
              </a:rPr>
              <a:t>UTAKATA / DM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2860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B89178"/>
                </a:solidFill>
                <a:latin typeface="Yu Mincho"/>
              </a:rPr>
              <a:t>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2860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45615F"/>
                </a:solidFill>
                <a:latin typeface="Yu Mincho"/>
              </a:rPr>
              <a:t>上の枠（明朝）に主題テロップ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6517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例:「呼吸が浅い日に」「自分に戻る時間」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1546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B89178"/>
                </a:solidFill>
                <a:latin typeface="Yu Mincho"/>
              </a:rPr>
              <a:t>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31546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45615F"/>
                </a:solidFill>
                <a:latin typeface="Yu Mincho"/>
              </a:rPr>
              <a:t>真ん中に動画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35204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撮影素材をそのまま入力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0233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B89178"/>
                </a:solidFill>
                <a:latin typeface="Yu Mincho"/>
              </a:rPr>
              <a:t>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40233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45615F"/>
                </a:solidFill>
                <a:latin typeface="Yu Mincho"/>
              </a:rPr>
              <a:t>下の枠（ゴシック）にCTA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43891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例:「UTAKATA / ご予約はDMから」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48920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B89178"/>
                </a:solidFill>
                <a:latin typeface="Yu Mincho"/>
              </a:rPr>
              <a:t>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48920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45615F"/>
                </a:solidFill>
                <a:latin typeface="Yu Mincho"/>
              </a:rPr>
              <a:t>時間で切り替え可能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52578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0〜15秒は文言A、15〜30秒は文言B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" y="6263640"/>
            <a:ext cx="7863840" cy="0"/>
          </a:xfrm>
          <a:prstGeom prst="line">
            <a:avLst/>
          </a:prstGeom>
          <a:ln w="6350">
            <a:solidFill>
              <a:srgbClr val="E8E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0080" y="635508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B89178"/>
                </a:solidFill>
                <a:latin typeface="Yu Gothic"/>
              </a:rPr>
              <a:t>テロップが動画に被らない構造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7A7A7A"/>
                </a:solidFill>
                <a:latin typeface="Consolas"/>
              </a:rPr>
              <a:t>UTAKATA  —  提案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7A7A7A"/>
                </a:solidFill>
                <a:latin typeface="Consolas"/>
              </a:rPr>
              <a:t>11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7240"/>
            <a:ext cx="7863840" cy="0"/>
          </a:xfrm>
          <a:prstGeom prst="line">
            <a:avLst/>
          </a:prstGeom>
          <a:ln w="6350">
            <a:solidFill>
              <a:srgbClr val="E8E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45615F"/>
                </a:solidFill>
                <a:latin typeface="Yu Mincho"/>
              </a:rPr>
              <a:t>使い方は4ステップ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本日デモで実演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18288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286000"/>
            <a:ext cx="1828800" cy="45720"/>
          </a:xfrm>
          <a:prstGeom prst="rect">
            <a:avLst/>
          </a:prstGeom>
          <a:solidFill>
            <a:srgbClr val="5D7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B89178"/>
                </a:solidFill>
                <a:latin typeface="Consolas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803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45615F"/>
                </a:solidFill>
                <a:latin typeface="Yu Mincho"/>
              </a:rPr>
              <a:t>動画を選ぶ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74720"/>
            <a:ext cx="15544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スマホで撮った</a:t>
            </a:r>
          </a:p>
          <a:p>
            <a:pPr algn="l">
              <a:lnSpc>
                <a:spcPct val="16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動画ファイルを1本選択。</a:t>
            </a:r>
          </a:p>
          <a:p>
            <a:pPr algn="l">
              <a:lnSpc>
                <a:spcPct val="16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30秒前後が目安。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2286000"/>
            <a:ext cx="18288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68880" y="2286000"/>
            <a:ext cx="1828800" cy="45720"/>
          </a:xfrm>
          <a:prstGeom prst="rect">
            <a:avLst/>
          </a:prstGeom>
          <a:solidFill>
            <a:srgbClr val="5D7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2514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B89178"/>
                </a:solidFill>
                <a:latin typeface="Consolas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8803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45615F"/>
                </a:solidFill>
                <a:latin typeface="Yu Mincho"/>
              </a:rPr>
              <a:t>枠を選ぶ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474720"/>
            <a:ext cx="15544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和紙風 / コントラスト /</a:t>
            </a:r>
          </a:p>
          <a:p>
            <a:pPr algn="l">
              <a:lnSpc>
                <a:spcPct val="16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クレイの3種から選択。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2286000"/>
            <a:ext cx="18288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2286000"/>
            <a:ext cx="1828800" cy="45720"/>
          </a:xfrm>
          <a:prstGeom prst="rect">
            <a:avLst/>
          </a:prstGeom>
          <a:solidFill>
            <a:srgbClr val="5D7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2514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B89178"/>
                </a:solidFill>
                <a:latin typeface="Consolas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8803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45615F"/>
                </a:solidFill>
                <a:latin typeface="Yu Mincho"/>
              </a:rPr>
              <a:t>テロップを入れる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474720"/>
            <a:ext cx="15544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上枠・下枠それぞれ、</a:t>
            </a:r>
          </a:p>
          <a:p>
            <a:pPr algn="l">
              <a:lnSpc>
                <a:spcPct val="16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時間と文字を入力。</a:t>
            </a:r>
          </a:p>
          <a:p>
            <a:pPr algn="l">
              <a:lnSpc>
                <a:spcPct val="16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チップで定型文も。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286000"/>
            <a:ext cx="18288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2286000"/>
            <a:ext cx="1828800" cy="45720"/>
          </a:xfrm>
          <a:prstGeom prst="rect">
            <a:avLst/>
          </a:prstGeom>
          <a:solidFill>
            <a:srgbClr val="5D7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514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B89178"/>
                </a:solidFill>
                <a:latin typeface="Consolas"/>
              </a:rP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8803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45615F"/>
                </a:solidFill>
                <a:latin typeface="Yu Mincho"/>
              </a:rPr>
              <a:t>書き出し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474720"/>
            <a:ext cx="15544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ボタン1つでMP4が出力。</a:t>
            </a:r>
          </a:p>
          <a:p>
            <a:pPr algn="l">
              <a:lnSpc>
                <a:spcPct val="16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そのままインスタに</a:t>
            </a:r>
          </a:p>
          <a:p>
            <a:pPr algn="l">
              <a:lnSpc>
                <a:spcPct val="16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アップ可能。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50749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7A7A7A"/>
                </a:solidFill>
                <a:latin typeface="Yu Gothic"/>
              </a:rPr>
              <a:t>1本あたり目安 10分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0080" y="6263640"/>
            <a:ext cx="7863840" cy="0"/>
          </a:xfrm>
          <a:prstGeom prst="line">
            <a:avLst/>
          </a:prstGeom>
          <a:ln w="6350">
            <a:solidFill>
              <a:srgbClr val="E8E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080" y="635508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1">
                <a:solidFill>
                  <a:srgbClr val="7A7A7A"/>
                </a:solidFill>
                <a:latin typeface="Yu Gothic"/>
              </a:rPr>
              <a:t>※ アプリのインストール不要。スマホのSafari/Chromeで使えます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7A7A7A"/>
                </a:solidFill>
                <a:latin typeface="Consolas"/>
              </a:rPr>
              <a:t>UTAKATA  —  次のアクション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7A7A7A"/>
                </a:solidFill>
                <a:latin typeface="Consolas"/>
              </a:rPr>
              <a:t>12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7240"/>
            <a:ext cx="7863840" cy="0"/>
          </a:xfrm>
          <a:prstGeom prst="line">
            <a:avLst/>
          </a:prstGeom>
          <a:ln w="6350">
            <a:solidFill>
              <a:srgbClr val="E8E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45615F"/>
                </a:solidFill>
                <a:latin typeface="Yu Mincho"/>
              </a:rPr>
              <a:t>次回までの3週間ロードマップ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7A7A7A"/>
                </a:solidFill>
                <a:latin typeface="Yu Gothic"/>
              </a:rPr>
              <a:t>段階的に導入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24688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B89178"/>
                </a:solidFill>
                <a:latin typeface="Consolas"/>
              </a:rPr>
              <a:t>WEEK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260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45615F"/>
                </a:solidFill>
                <a:latin typeface="Yu Mincho"/>
              </a:rPr>
              <a:t>プロンプトを試す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20116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000" b="0" i="0">
                <a:solidFill>
                  <a:srgbClr val="2C2C2C"/>
                </a:solidFill>
                <a:latin typeface="Yu Gothic"/>
              </a:rPr>
              <a:t>・ChatGPTにプロジェクト用プロンプトを設定</a:t>
            </a:r>
          </a:p>
          <a:p>
            <a:pPr algn="l">
              <a:lnSpc>
                <a:spcPct val="170000"/>
              </a:lnSpc>
            </a:pPr>
            <a:r>
              <a:rPr sz="1000" b="0" i="0">
                <a:solidFill>
                  <a:srgbClr val="2C2C2C"/>
                </a:solidFill>
                <a:latin typeface="Yu Gothic"/>
              </a:rPr>
              <a:t>・「リール5本」を1回実行</a:t>
            </a:r>
          </a:p>
          <a:p>
            <a:pPr algn="l">
              <a:lnSpc>
                <a:spcPct val="170000"/>
              </a:lnSpc>
            </a:pPr>
            <a:r>
              <a:rPr sz="1000" b="0" i="0">
                <a:solidFill>
                  <a:srgbClr val="2C2C2C"/>
                </a:solidFill>
                <a:latin typeface="Yu Gothic"/>
              </a:rPr>
              <a:t>・出力から1案を選定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2286000"/>
            <a:ext cx="24688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5603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B89178"/>
                </a:solidFill>
                <a:latin typeface="Consolas"/>
              </a:rPr>
              <a:t>WEEK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9260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45615F"/>
                </a:solidFill>
                <a:latin typeface="Yu Mincho"/>
              </a:rPr>
              <a:t>エディタで1本作成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566160"/>
            <a:ext cx="20116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000" b="0" i="0">
                <a:solidFill>
                  <a:srgbClr val="2C2C2C"/>
                </a:solidFill>
                <a:latin typeface="Yu Gothic"/>
              </a:rPr>
              <a:t>・撮影素材を1本用意</a:t>
            </a:r>
          </a:p>
          <a:p>
            <a:pPr algn="l">
              <a:lnSpc>
                <a:spcPct val="170000"/>
              </a:lnSpc>
            </a:pPr>
            <a:r>
              <a:rPr sz="1000" b="0" i="0">
                <a:solidFill>
                  <a:srgbClr val="2C2C2C"/>
                </a:solidFill>
                <a:latin typeface="Yu Gothic"/>
              </a:rPr>
              <a:t>・エディタで枠付き動画化</a:t>
            </a:r>
          </a:p>
          <a:p>
            <a:pPr algn="l">
              <a:lnSpc>
                <a:spcPct val="170000"/>
              </a:lnSpc>
            </a:pPr>
            <a:r>
              <a:rPr sz="1000" b="0" i="0">
                <a:solidFill>
                  <a:srgbClr val="2C2C2C"/>
                </a:solidFill>
                <a:latin typeface="Yu Gothic"/>
              </a:rPr>
              <a:t>・書き出してインスタに投稿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2286000"/>
            <a:ext cx="24688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5603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B89178"/>
                </a:solidFill>
                <a:latin typeface="Consolas"/>
              </a:rPr>
              <a:t>WEEK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9260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45615F"/>
                </a:solidFill>
                <a:latin typeface="Yu Mincho"/>
              </a:rPr>
              <a:t>運用に乗せる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566160"/>
            <a:ext cx="20116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000" b="0" i="0">
                <a:solidFill>
                  <a:srgbClr val="2C2C2C"/>
                </a:solidFill>
                <a:latin typeface="Yu Gothic"/>
              </a:rPr>
              <a:t>・もう1〜2本作成</a:t>
            </a:r>
          </a:p>
          <a:p>
            <a:pPr algn="l">
              <a:lnSpc>
                <a:spcPct val="170000"/>
              </a:lnSpc>
            </a:pPr>
            <a:r>
              <a:rPr sz="1000" b="0" i="0">
                <a:solidFill>
                  <a:srgbClr val="2C2C2C"/>
                </a:solidFill>
                <a:latin typeface="Yu Gothic"/>
              </a:rPr>
              <a:t>・使いにくい部分をメモ</a:t>
            </a:r>
          </a:p>
          <a:p>
            <a:pPr algn="l">
              <a:lnSpc>
                <a:spcPct val="170000"/>
              </a:lnSpc>
            </a:pPr>
            <a:r>
              <a:rPr sz="1000" b="0" i="0">
                <a:solidFill>
                  <a:srgbClr val="2C2C2C"/>
                </a:solidFill>
                <a:latin typeface="Yu Gothic"/>
              </a:rPr>
              <a:t>・次回ヒアリングで共有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263640"/>
            <a:ext cx="7863840" cy="0"/>
          </a:xfrm>
          <a:prstGeom prst="line">
            <a:avLst/>
          </a:prstGeom>
          <a:ln w="6350">
            <a:solidFill>
              <a:srgbClr val="E8E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635508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B89178"/>
                </a:solidFill>
                <a:latin typeface="Yu Gothic"/>
              </a:rPr>
              <a:t>次回ヒアリングで運用状況を確認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3600" b="0" i="0">
                <a:solidFill>
                  <a:srgbClr val="FFFFFF"/>
                </a:solidFill>
                <a:latin typeface="Yu Mincho"/>
              </a:rPr>
              <a:t>以上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0" y="3840480"/>
            <a:ext cx="548640" cy="9525"/>
          </a:xfrm>
          <a:prstGeom prst="rect">
            <a:avLst/>
          </a:prstGeom>
          <a:solidFill>
            <a:srgbClr val="B89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2976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CFCBC0"/>
                </a:solidFill>
                <a:latin typeface="Yu Gothic"/>
              </a:rPr>
              <a:t>ご質問・ご意見をお願いします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